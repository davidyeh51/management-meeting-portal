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【採用版型與風格】cover ｜ McKinsey &amp; Company</a:t>
            </a:r>
          </a:p>
          <a:p>
            <a:r>
              <a:t>① 本頁結論：本簡報整合 2026-10-13 及 8-18 兩場維運管理月會關鍵決策，提煉數據治理、營運因果鏈與外部商機。</a:t>
            </a:r>
          </a:p>
          <a:p>
            <a:r>
              <a:t>② 補充說明：維運 BU 在 2026 年交出超越預算 113% 的亮眼成績，但面對 2027 年 1.2 億營收與 Spin-off 目標，必須正視整改能力與內部流程的斷點。</a:t>
            </a:r>
          </a:p>
          <a:p>
            <a:r>
              <a:t>③ 下一頁轉場：首先，讓我們透過整體架構總覽，快速掌握本次分析的三大核心主軸。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本頁結論：本份報告從財務指標、營運瓶頸、到外部市場商機，形成完整的三大分析維度。</a:t>
            </a:r>
          </a:p>
          <a:p>
            <a:r>
              <a:t>② 補充說明：我們不僅看營收數字的成長，更深層穿透現場流程與數據治理問題，為管理層提供具備可落地性的決策選項。</a:t>
            </a:r>
          </a:p>
          <a:p>
            <a:r>
              <a:t>③ 下一頁轉場：接下來，進入第一章：檢視 2026 年累計營收成果與 2027 目標結構。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1：一對一論法 ｜ McKinsey &amp; Company</a:t>
            </a:r>
          </a:p>
          <a:p>
            <a:r>
              <a:t>① 本頁結論：2026 年度累計營收達 5,786 萬元，以 113% 達成率超額完成全年預算。</a:t>
            </a:r>
          </a:p>
          <a:p>
            <a:r>
              <a:t>② 補充說明：特別值得肯定的是保發保批考核罰鍰降為 0 元，顯示運維品質控制顯著提升。然而要跨入 2027 年的 1.2 億元，相當於營收翻倍，挑戰極為艱鉅。</a:t>
            </a:r>
          </a:p>
          <a:p>
            <a:r>
              <a:t>③ 下一頁轉場：那麼，2027 年這 1.2 億元的營收結構是如何拆解的？請看下一頁。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Accenture</a:t>
            </a:r>
          </a:p>
          <a:p>
            <a:r>
              <a:t>① 本頁結論：2027 年目標由維運 8,400 萬與修繕 3,600 萬構成 7:3 黃金結構，精準契合獨立 Spin-off 門檻。</a:t>
            </a:r>
          </a:p>
          <a:p>
            <a:r>
              <a:t>② 補充說明：會議中雖將總目標從 1.5 億下修至 1.2 億，但 1.2 億剛好符合維運 BU 獨立分拆貢獻 EPS 0.5-0.8 的營收區間。關鍵在於 3,600 萬修繕必須如期兌現。</a:t>
            </a:r>
          </a:p>
          <a:p>
            <a:r>
              <a:t>③ 下一頁轉場：要實現這個獨立分拆目標，底層必須同時滿足哪兩個關鍵支柱？我們看下一頁的結合論法。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3：結合論法 ｜ McKinsey &amp; Company</a:t>
            </a:r>
          </a:p>
          <a:p>
            <a:r>
              <a:t>① 本頁結論：維運 BU 獨立 Spin-off 的前提，是營收跨越 1.2 億與整改能力內化兩者缺一不可。</a:t>
            </a:r>
          </a:p>
          <a:p>
            <a:r>
              <a:t>② 補充說明：如果只有維運營收，毛利率無法支撐獨立上市估值；如果整改案持續轉出給南區，等於將 5,000 多萬市場份額拱手讓人。兩大要素必須同步到位。</a:t>
            </a:r>
          </a:p>
          <a:p>
            <a:r>
              <a:t>③ 下一頁轉場：然而，審視當前內部營運，一條由告警過載引發的連鎖問題正侵蝕著客戶滿意度。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 ｜ Accenture</a:t>
            </a:r>
          </a:p>
          <a:p>
            <a:r>
              <a:t>① 本頁結論：客戶滿意度下滑與會議後半段討論的派工停滯，實際上是同一個因果鏈條。</a:t>
            </a:r>
          </a:p>
          <a:p>
            <a:r>
              <a:t>② 補充說明：告警沒分級導致工程師篩不完，派工系統停滯導致工單卡關，最終反映在客服回應不及時與客滿扣分。因此，派工系統不僅是內部工具，更是維護滿意度的生命線。</a:t>
            </a:r>
          </a:p>
          <a:p>
            <a:r>
              <a:t>③ 下一頁轉場：為了徹底斬斷這個惡性循環，我們需要沿著電廠生命週期，進行全流程的麥肯錫診斷與改善。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｜ McKinsey &amp; Company</a:t>
            </a:r>
          </a:p>
          <a:p>
            <a:r>
              <a:t>① 本頁結論：透過麥肯錫橫向流程矩陣，我們將案場從驗收、監控、派工到修繕四大階段的痛點與解方完全對齊。</a:t>
            </a:r>
          </a:p>
          <a:p>
            <a:r>
              <a:t>② 補充說明：過去我們只在出了問題後加強訓練，現在要求從源頭建立制度：驗收做失效分析、監控做四級分級、巡檢做事前預約、採購做標準件快速通道。</a:t>
            </a:r>
          </a:p>
          <a:p>
            <a:r>
              <a:t>③ 下一頁轉場：在內部流程強化的同時，外部市場也迎來了重大機遇：友達集團的維運外包潮。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6：對立論法 ｜ BCG (Boston Consulting Group)</a:t>
            </a:r>
          </a:p>
          <a:p>
            <a:r>
              <a:t>① 本頁結論：面對友達集團外包潮，我們有單打獨鬥與整批合作兩種不同策略路徑。</a:t>
            </a:r>
          </a:p>
          <a:p>
            <a:r>
              <a:t>② 補充說明：選項 A 靠技術硬實力逐案吃下，但會面臨達耀的直接抵抗；選項 B 尋求合作代管，但需視達耀的決策意願。建議短期以奇美案作為實力展現，同步釋出合作善意。</a:t>
            </a:r>
          </a:p>
          <a:p>
            <a:r>
              <a:t>③ 下一頁轉場：除了外部新案擴張，在新技術應用上，清掃機器人的實測數據也帶來了重要啟示。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7：比較論法 ｜ BCG (Boston Consulting Group)</a:t>
            </a:r>
          </a:p>
          <a:p>
            <a:r>
              <a:t>① 本頁結論：清掃機器人實測 1% 的落差提醒我們：增益技術必須依據案場規模精準匹配商業模式。</a:t>
            </a:r>
          </a:p>
          <a:p>
            <a:r>
              <a:t>② 補充說明：厲總的算術點醒了團隊：小案場買設備不划算，只能走增發電分潤；大案場才能走設備採購或定期收費。而兩者的共通前提，都是 6 個月的實測歸因數據。</a:t>
            </a:r>
          </a:p>
          <a:p>
            <a:r>
              <a:t>③ 下一頁轉場：綜合上述內外部專案，我們可以用 BCG 矩陣對 2027 年的專案機會進行整體組合管理。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8：BCG 論法 ｜ BCG (Boston Consulting Group)</a:t>
            </a:r>
          </a:p>
          <a:p>
            <a:r>
              <a:t>① 本頁結論：透過 BCG 矩陣，我們將 2027 年的專案池進行了清晰的四象限戰略定位。</a:t>
            </a:r>
          </a:p>
          <a:p>
            <a:r>
              <a:t>② 補充說明：右下角既有案場是穩健現金流金牛；左上角外部整改大案是我們必須爭取的明星業務。只要整改能力成功內化，問題專案就能轉化為高獲利明星。</a:t>
            </a:r>
          </a:p>
          <a:p>
            <a:r>
              <a:t>③ 下一頁轉場：為了確保上述戰略目標不淪為空談，我們必須立即處理追蹤表中的四大優先警示事項。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Accenture</a:t>
            </a:r>
          </a:p>
          <a:p>
            <a:r>
              <a:t>① 本頁結論：在 19 項行動項目中，這 4 項標註 ⚠️ 的任務直接關係到 2027 年目標的生死存亡。</a:t>
            </a:r>
          </a:p>
          <a:p>
            <a:r>
              <a:t>② 補充說明：特別是 David 的整改方案與 Roy 的派工 ERP，已經出現時程延遲。本次月會必須嚴肅定調窗口與期限，確保 11 月月會全數收斂。</a:t>
            </a:r>
          </a:p>
          <a:p>
            <a:r>
              <a:t>③ 下一頁轉場：最後，我們將所有行動項目的推進節點，整合為至 2027 年上半年的關鍵推進藍圖。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 ｜ McKinsey &amp; Company</a:t>
            </a:r>
          </a:p>
          <a:p>
            <a:r>
              <a:t>① 本頁結論：本時程藍圖為維運團隊擘劃了通往 2027 年 1.2 億目標的清晰推進路徑。</a:t>
            </a:r>
          </a:p>
          <a:p>
            <a:r>
              <a:t>② 補充說明：從 10 月的奇美與穩懋定案、11 月的整改與 ERP 落地、12 月的預算拍板，到明年上半年的 ROI 結算與估值衝刺，每一步都有明確的時間表與檢驗標準。</a:t>
            </a:r>
          </a:p>
          <a:p>
            <a:r>
              <a:t>③ 下一頁轉場：以上報告完畢，謝謝各位主管與同仁，懇請厲總與管理團隊給予指導與裁示！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16459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MANAGEMENT MEETING INTELLIGENCE  ｜  ACMEPOINT 6692  ｜  HYBRID CONSULTING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太陽光電維運月會經營分析與 FY2027 戰略布局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40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核心主張：2026 營收超額達成 113%，FY2027 確立 1.2 億元目標；亟需以整改能力內化、告警分級與派工 ERP 貫穿服務閉環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BAC4D2"/>
                </a:solidFill>
              </a:defRPr>
            </a:pPr>
            <a:r>
              <a:t>方法論：前 BCG 顧問森秀明《無雜訊簡報製作法：8 種版型》 × McKinsey・BCG・Accenture 視覺系統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戰略架構總覽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本次分析涵蓋經營成果躍升、內部瓶頸貫穿與外部商機落實三大主軸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以客觀數據對比與深度顧問洞察，支撐 2027 年 1.2 億營運架構與資本市場獨立估值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資料來源：進金生能源服務 2026-10-13 &amp; 08-18 維運管理月會紀錄 ｜ 麥肯錫金字塔演繹架構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一、財務表現與目標診斷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2026 累計營收達 5,786 萬，預算達成率高達 113%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2027 營收目標確立為 1.2 億元（維運 8,400 萬/修繕 3,600 萬）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修繕目標 3,600 萬包含大型整改，能力內化為不可或缺前提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4. 跨會議指標比對：保發罰鍰歸零，但客滿度微降至 8.6 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二、營運瓶頸與因果鏈貫穿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每日 500+ 筆告警過載 ➔ 派工系統停滯 ➔ 客戶扣分之單一因果鏈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電廠生命週期四階段診斷：從 PR 移交到報價修繕的流程重塑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數據治理機制缺失：妥善率排除清單與案場統計口徑亟待標準化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4. 新技術實測落差：清掃機器人增益 1%（原估 3-5%），ROI 觀察延至半年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三、外部商機與關鍵處置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1. 掌握友達集團外包潮：達平、升進、升利與華科 5 案場策略布局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2. 直面達耀能源競合關係：自建標準提案包 vs. 代管合作 A/B 方案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3. 四大優先警示處置：整改方案、妥善率曲線、派工 ERP、四級告警</a:t>
            </a:r>
          </a:p>
          <a:p>
            <a:pPr>
              <a:spcAft>
                <a:spcPts val="600"/>
              </a:spcAft>
              <a:defRPr sz="1250">
                <a:solidFill>
                  <a:srgbClr val="1F2937"/>
                </a:solidFill>
              </a:defRPr>
            </a:pPr>
            <a:r>
              <a:t>4. 時程藍圖：Q4 收斂關鍵專案，2027 衝刺 Spin-off 貢獻 EPS 0.5-0.8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財務與經營成果  ｜  版型 1：一對一論法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2026 年累計營收達 5,786 萬元，超額達成年度預算 113%，奠定獨立營運基礎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對比原訂預算 5,125 萬超標 661 萬元，且保發合約年度結算罰鍰自去年 88 萬降為 0 元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資料來源：維運月會 10/13 財務報告 ｜ 唯一焦點數據高亮顯示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11554" y="4414266"/>
            <a:ext cx="699211" cy="1346454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4394" y="4066794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4,650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867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2025 實際營收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9314" y="4276725"/>
            <a:ext cx="699211" cy="1483995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2154" y="3929253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5,125 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43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2026 年度預算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7074" y="4145264"/>
            <a:ext cx="699211" cy="1615455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914" y="3797792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5,579 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419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2026 8/18累計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94834" y="4085325"/>
            <a:ext cx="699211" cy="167539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7674" y="3737853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51C2C"/>
                </a:solidFill>
              </a:defRPr>
            </a:pPr>
            <a:r>
              <a:t>5,786 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195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2026 10/13累計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2594" y="3328416"/>
            <a:ext cx="699211" cy="2432303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85434" y="2980944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8,400 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971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2027 維運基線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0354" y="2286000"/>
            <a:ext cx="699211" cy="3474720"/>
          </a:xfrm>
          <a:prstGeom prst="rect">
            <a:avLst/>
          </a:prstGeom>
          <a:solidFill>
            <a:srgbClr val="BA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3194" y="1938528"/>
            <a:ext cx="9735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1.2 億元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7474" y="5833872"/>
            <a:ext cx="10649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F2937"/>
                </a:solidFill>
              </a:defRPr>
            </a:pPr>
            <a:r>
              <a:t>2027 總目標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011680"/>
            <a:ext cx="3200400" cy="3749039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1945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② 營收超標核心歸因解析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【超越預算】累計達成 5,786 萬元，較 8/18 再增 207 萬，預算達成率 113%。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【合約品質】保發考核結算罰鍰歸零（去年 88 萬），技術品質實質轉化為利潤。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【短期增量】承接穩懋機電站遷移、宜家美租修復等小型高毛利服務案。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【長期挑戰】2027 目標為 1.2 億元，營收需再躍升 107%，需依賴修繕與外來大案。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A100FF"/>
                </a:solidFill>
              </a:defRPr>
            </a:pPr>
            <a:r>
              <a:t>2027 經營結構  ｜  版型 2：並列論法  ｜  Accenture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11827"/>
                </a:solidFill>
              </a:defRPr>
            </a:pPr>
            <a:r>
              <a:t>2027 年 1.2 億目標確立「7:3」營收配比，維運穩健現金流與修繕大型整改雙輪驅動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目標自 8/18 之「≥1.5 億」下修 20%，但仍落在 Spin-off 獨立貢獻 EPS 0.5-0.8 之合理估值區間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資料來源：2026-10-13 經營管理月會拍板決議 ｜ 埃森哲 Bento Grid 模組化結構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支柱一：基礎維運服務 (70%)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營收目標：8,400 萬元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營運定位：穩健的經常性訂閱現金流 (Recurring Revenue)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擴充來源：既有合約高續約率 ＋ 友達系外來案場委外承接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關鍵要求：導入四級告警與標準化服務通知，鞏固 CSAT 評分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支柱二：修繕與大型整改 (30%)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營收目標：3,600 萬元（含小型修繕與大型整改）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營運定位：高毛利率專案，拉高整體獲利水平之關鍵加速器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擴充來源：穩懋機電站、國泰 20MW、永鑫 27MW 及友達系大修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關鍵要求：必須具備自有整改設計評估能力，擺脫向外轉出依賴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支柱三：資本市場 Spin-off 前提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營收門檻：年營收達 1.0 ~ 1.25 億元區間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盈餘貢獻：獨立分拆後預期可為母公司貢獻 EPS 0.5 ~ 0.8 元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估值邏輯：1.2 億目標精準對齊資本市場估值下限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戰略意涵：3,600 萬整改修繕能否如期入帳，為 Spin-off 成功勝負手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核心能力建設  ｜  版型 3：結合論法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維運 BU 獨立並貢獻 EPS 0.5-0.8 的戰略前提，取決於「規模達標」與「整改內化」兩大支柱同時成立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任一支柱缺席皆無法達成資本市場價值：缺乏規模無法分拆，缺乏整改能力毛利無法支撐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資料來源：維運月會 10/13 戰略分析與 1.2 五年計畫 ｜ 麥肯錫金字塔演繹三層結構樹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83080"/>
            <a:ext cx="8138160" cy="731520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【最終結論】維運 BU 成功 Spin-off 獨立並為母公司常態貢獻 EPS 0.5 ~ 0.8 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支柱 A：營收規模穩定跨越 1.2 億元門檻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既有案場維運合約續約率保持 95% 以上，確保 8,400 萬基線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850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9944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順利拿下奇美三案及友達系外來案（達平、升進、華科），擴大外來營收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692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告警分級與派工系統改善完成，客滿度重返 9.0 分高標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支柱 B：大型整改能力實質內化於本 BU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終止大型整改案全數轉交南區現況（8/18 轉出高達 5,376 萬元）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2063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建立自主評估設計、工法規劃與委外工班發包之專案管控體系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1760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904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David 於 11 月完成整改方案檢討，確保 3,600 萬修繕目標真實落地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A100FF"/>
                </a:solidFill>
              </a:defRPr>
            </a:pPr>
            <a:r>
              <a:t>營運瓶頸診斷  ｜  版型 4：連鎖論法  ｜  Accenture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11827"/>
                </a:solidFill>
              </a:defRPr>
            </a:pPr>
            <a:r>
              <a:t>每日 500 筆告警過載引發派工停滯，形成「異常回應慢 ➔ 客戶扣分」的單一因果鏈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客滿度 8.6 分扣分項集中於監控管理與報價時效，底層本質是監控雜訊與系統工具的共同栓塞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資料來源：10/13 客滿問卷分析與監控模組現況 ｜ 埃森哲端到端流程推進鏈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874519"/>
            <a:ext cx="10728655" cy="384048"/>
          </a:xfrm>
          <a:prstGeom prst="rightArrow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② 異常告警、派工瓶頸與客戶滿意度扣分之端到端因果推導鏈  ───►</a:t>
            </a:r>
          </a:p>
        </p:txBody>
      </p:sp>
      <p:sp>
        <p:nvSpPr>
          <p:cNvPr id="8" name="Chevron 7"/>
          <p:cNvSpPr/>
          <p:nvPr/>
        </p:nvSpPr>
        <p:spPr>
          <a:xfrm>
            <a:off x="731520" y="2468880"/>
            <a:ext cx="2510713" cy="777240"/>
          </a:xfrm>
          <a:prstGeom prst="chevro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階段 1：告警雜訊過載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510713" cy="274320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每天湧入 500+ 筆監控告警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告警缺乏輕重緩急分級機制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監控工程師陷入海量無效警報</a:t>
            </a:r>
          </a:p>
        </p:txBody>
      </p:sp>
      <p:sp>
        <p:nvSpPr>
          <p:cNvPr id="11" name="Chevron 10"/>
          <p:cNvSpPr/>
          <p:nvPr/>
        </p:nvSpPr>
        <p:spPr>
          <a:xfrm>
            <a:off x="3470833" y="2468880"/>
            <a:ext cx="2510713" cy="777240"/>
          </a:xfrm>
          <a:prstGeom prst="chevro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階段 2：派工系統停滯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0833" y="3383280"/>
            <a:ext cx="2510713" cy="274320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3713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派工系統定位不明、缺乏里程碑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PL 溝通脫節導致專案停擺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無法自動將告警轉化為標準工單</a:t>
            </a:r>
          </a:p>
        </p:txBody>
      </p:sp>
      <p:sp>
        <p:nvSpPr>
          <p:cNvPr id="14" name="Chevron 13"/>
          <p:cNvSpPr/>
          <p:nvPr/>
        </p:nvSpPr>
        <p:spPr>
          <a:xfrm>
            <a:off x="6210147" y="2468880"/>
            <a:ext cx="2510713" cy="777240"/>
          </a:xfrm>
          <a:prstGeom prst="chevron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階段 3：響應與報價延遲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383280"/>
            <a:ext cx="2510713" cy="274320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重大異常通報客戶時效拖延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巡檢未提前通知業主突襲到場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客製化修繕報價協作流程冗長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9461" y="2468880"/>
            <a:ext cx="2510713" cy="777240"/>
          </a:xfrm>
          <a:prstGeom prst="chevron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階段 4：客戶滿意度滑落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9461" y="3383280"/>
            <a:ext cx="2510713" cy="2743200"/>
          </a:xfrm>
          <a:prstGeom prst="roundRect">
            <a:avLst/>
          </a:prstGeom>
          <a:solidFill>
            <a:srgbClr val="F9FAF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2341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CSAT 跌至 8.6 分（2024 年 9.0 分）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群創八廠、喜鋪等給出低分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▪ 直接威脅外部續約與競標商譽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電廠生命週期診斷  ｜  版型 5：麥肯錫論法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貫穿電廠生命週期四階段診斷，將運維痛點全面轉化為 2027 標準化改善矩陣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針對工程移交、監控、巡檢、修繕各階段現況，確立對應之具體改善方針與制度防護網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資料來源：維運月會 10/13 改善決策綜整 ｜ 麥肯錫橫向流程 × 縱向要素矩陣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階段一：工程驗收</a:t>
            </a:r>
          </a:p>
        </p:txBody>
      </p:sp>
      <p:sp>
        <p:nvSpPr>
          <p:cNvPr id="8" name="Chevron 7"/>
          <p:cNvSpPr/>
          <p:nvPr/>
        </p:nvSpPr>
        <p:spPr>
          <a:xfrm>
            <a:off x="5036743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階段二：即時監控</a:t>
            </a:r>
          </a:p>
        </p:txBody>
      </p:sp>
      <p:sp>
        <p:nvSpPr>
          <p:cNvPr id="9" name="Chevron 8"/>
          <p:cNvSpPr/>
          <p:nvPr/>
        </p:nvSpPr>
        <p:spPr>
          <a:xfrm>
            <a:off x="7238847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階段三：巡檢派工</a:t>
            </a:r>
          </a:p>
        </p:txBody>
      </p:sp>
      <p:sp>
        <p:nvSpPr>
          <p:cNvPr id="10" name="Chevron 9"/>
          <p:cNvSpPr/>
          <p:nvPr/>
        </p:nvSpPr>
        <p:spPr>
          <a:xfrm>
            <a:off x="9440951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階段四：修繕報價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現況瓶頸 (As-Is)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PR&gt;80% 即草率移交，缺乏接手前失效分析 (FMEA)，隱性隱患由運維承擔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6743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3903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每日 500+ 筆告警未分級，關鍵故障被淹沒，監控無法第一時間主動示警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巡檢前未提前通知業主，工程師突現現場；派工工具停擺，進度黑箱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0951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8111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定製修繕報價與採購協作脫節，時效延宕；矯正措施流於加強訓練口號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改善對策 (To-Be)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工程驗收提前介入 FMEA 失效審查；外來案簽約前導入付費健康檢查機制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36743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3903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告警嚴格實施四級分類，僅推播一二級；分析團隊每日早晚產出異常日報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8847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6007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派工系統定位為維運專屬 ERP，由維運自主主導；巡檢落實事前預約通知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0951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8111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建立標準備品採購綠色通道；矯正措施必須產出可驗證之流程 SOP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29BA74"/>
                </a:solidFill>
              </a:defRPr>
            </a:pPr>
            <a:r>
              <a:t>外部競合策略  ｜  版型 6：對立論法  ｜  BCG (Boston Consulting Group)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B7280"/>
                </a:solidFill>
              </a:defRPr>
            </a:pPr>
            <a: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04F32"/>
                </a:solidFill>
              </a:defRPr>
            </a:pPr>
            <a:r>
              <a:t>爭取友達外包潮之戰略抉擇：單打獨鬥客製提案包 vs. 找達耀整批委外合作</a:t>
            </a:r>
          </a:p>
          <a:p>
            <a:pPr>
              <a:defRPr sz="1250">
                <a:solidFill>
                  <a:srgbClr val="6B7280"/>
                </a:solidFill>
              </a:defRPr>
            </a:pPr>
            <a:r>
              <a:t>針對奇美、達平、升進、華科等案場，需權衡自主競標勝率與戰略夥伴合作之利弊得失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B7280"/>
                </a:solidFill>
              </a:defRPr>
            </a:pPr>
            <a:r>
              <a:t>資料來源：10/13 月會外來案商機分析 ｜ BCG 對立論法多維度對照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828800"/>
            <a:ext cx="4297680" cy="502920"/>
          </a:xfrm>
          <a:prstGeom prst="rect">
            <a:avLst/>
          </a:prstGeom>
          <a:solidFill>
            <a:srgbClr val="004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見解 A：單打獨鬥（客製化外來提案包）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828800"/>
            <a:ext cx="4297680" cy="502920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見解 B：化敵為友（與達耀整批合作）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468880"/>
            <a:ext cx="1737360" cy="868680"/>
          </a:xfrm>
          <a:prstGeom prst="ellipse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4F32"/>
                </a:solidFill>
              </a:defRPr>
            </a:pPr>
            <a:r>
              <a:t>商機切入點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468880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奇美提案經驗模組化，逐案對抗原廠進行技術優勢搶單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468880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主動拜會友達分拆之達耀能源，爭取成為其底層運維統包夥伴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47288"/>
            <a:ext cx="1737360" cy="868680"/>
          </a:xfrm>
          <a:prstGeom prst="ellipse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4F32"/>
                </a:solidFill>
              </a:defRPr>
            </a:pPr>
            <a:r>
              <a:t>競爭與關係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447288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直面達耀競爭，若奇美打得太兇恐惡化友達集團整體關係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447288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避免直接價格廝殺，但需承擔達耀本身定位不清、談判延宕風險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25696"/>
            <a:ext cx="1737360" cy="868680"/>
          </a:xfrm>
          <a:prstGeom prst="ellipse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4F32"/>
                </a:solidFill>
              </a:defRPr>
            </a:pPr>
            <a:r>
              <a:t>營收回報速度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4425696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單案突破週期長，奇美 10 月底定標若勝出可樹立標竿示範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4425696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若談成可一次性吃下達平、升進、華科整批案場，規模快速放量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404104"/>
            <a:ext cx="1737360" cy="868680"/>
          </a:xfrm>
          <a:prstGeom prst="ellipse">
            <a:avLst/>
          </a:prstGeom>
          <a:solidFill>
            <a:srgbClr val="DCFCE7"/>
          </a:solidFill>
          <a:ln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4F32"/>
                </a:solidFill>
              </a:defRPr>
            </a:pPr>
            <a:r>
              <a:t>資源投入代價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5404104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業務與工程團隊需耗費龐大人力逐案現勘與客製化報價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0" y="5404104"/>
            <a:ext cx="42976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以高層戰略談判為主，需做好技術資訊與敏感報價之隔離防護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29BA74"/>
                </a:solidFill>
              </a:defRPr>
            </a:pPr>
            <a:r>
              <a:t>增益技術商業模式  ｜  版型 7：比較論法  ｜  BCG (Boston Consulting Group)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B7280"/>
                </a:solidFill>
              </a:defRPr>
            </a:pPr>
            <a: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04F32"/>
                </a:solidFill>
              </a:defRPr>
            </a:pPr>
            <a:r>
              <a:t>清掃機器人實測增益約 1%（低於原估 3-5%），重構發電增益技術之落地商業模式</a:t>
            </a:r>
          </a:p>
          <a:p>
            <a:pPr>
              <a:defRPr sz="1250">
                <a:solidFill>
                  <a:srgbClr val="6B7280"/>
                </a:solidFill>
              </a:defRPr>
            </a:pPr>
            <a:r>
              <a:t>厲總指出 500KW 設備回本需近 10 年，需嚴格區分分成模式與大案場收費模式之適用邊界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B7280"/>
                </a:solidFill>
              </a:defRPr>
            </a:pPr>
            <a:r>
              <a:t>資料來源：高正案場 1 個月實測數據與厲總決策指引 ｜ BCG 比較論法共通與差異解析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3474720" cy="41148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04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47472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965960"/>
            <a:ext cx="3474720" cy="41148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04F32"/>
                </a:solidFill>
              </a:defRPr>
            </a:pPr>
            <a:r>
              <a:t>① 分成模式（小案場／高髒污）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【設備出資】公司出資購置機器人設備進駐案場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【收費機制】以增加之發電度數收益與業主拆分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【核心優勢】大幅降低客戶採購門檻，迅速綁定長期運維合約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【主要代價】資本支出沉重，收款週期長，設備折舊風險由我方承擔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29BA74"/>
                </a:solidFill>
              </a:defRPr>
            </a:pPr>
            <a:r>
              <a:t>③ 核心共通點（必備前提）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【計量基準】皆必須建立無可爭議的晴空日發電增益歸因模型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【驗證週期】高正案場皆需觀察滿 6 個月 (2027-03) 確定乾雨季 ROI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【投資門檻】發電增益需達 6~8% 方具備顯著經濟誘因與推廣價值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177B57"/>
                </a:solidFill>
              </a:defRPr>
            </a:pPr>
            <a:r>
              <a:t>① 大案場收費模式（1-2MW 以上）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【設備出資】設備由業主自行出資採購或包入年度合約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【收費機制】按次收取清洗服務費或作為標準合約加值項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【核心優勢】2.5 年即可回收成本，我方不承擔設備持有與折舊風險</a:t>
            </a:r>
          </a:p>
          <a:p>
            <a:pPr>
              <a:spcAft>
                <a:spcPts val="800"/>
              </a:spcAft>
              <a:defRPr sz="1250">
                <a:solidFill>
                  <a:srgbClr val="1F2937"/>
                </a:solidFill>
              </a:defRPr>
            </a:pPr>
            <a:r>
              <a:t>• 【主要代價】中小案場（&lt;1MW）業主採購意願低，無法全台廣泛推廣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29BA74"/>
                </a:solidFill>
              </a:defRPr>
            </a:pPr>
            <a:r>
              <a:t>專案組合管理  ｜  版型 8：BCG 論法  ｜  BCG (Boston Consulting Group)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B7280"/>
                </a:solidFill>
              </a:defRPr>
            </a:pPr>
            <a: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04F32"/>
                </a:solidFill>
              </a:defRPr>
            </a:pPr>
            <a:r>
              <a:t>2027 專案機會定位：以「外來大案場」為金牛核心，將「整改能力」推向明星象限</a:t>
            </a:r>
          </a:p>
          <a:p>
            <a:pPr>
              <a:defRPr sz="1250">
                <a:solidFill>
                  <a:srgbClr val="6B7280"/>
                </a:solidFill>
              </a:defRPr>
            </a:pPr>
            <a:r>
              <a:t>以顧客類型（既有 vs 新客）與服務複雜度（標準維運 vs 整改增益）劃分四象限資源配置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B7280"/>
                </a:solidFill>
              </a:defRPr>
            </a:pPr>
            <a:r>
              <a:t>資料來源：2027 營收 1.2 億專案池分析 ｜ BCG 2×2 四象限策略矩陣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74519"/>
            <a:ext cx="1371600" cy="3749039"/>
          </a:xfrm>
          <a:prstGeom prst="rect">
            <a:avLst/>
          </a:prstGeom>
          <a:solidFill>
            <a:srgbClr val="004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② 縱軸 Y：服務附加價值與複雜度</a:t>
            </a:r>
            <a:br/>
            <a:r>
              <a:t>（▲ 高附加價值/大型整改/增益技術 ｜ ▼ 標準例行運維）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760720"/>
            <a:ext cx="9052560" cy="438912"/>
          </a:xfrm>
          <a:prstGeom prst="rect">
            <a:avLst/>
          </a:prstGeom>
          <a:solidFill>
            <a:srgbClr val="004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◄ 新客群 / 外部集團 (X1)           ② 橫軸 X：顧客與市場範疇           既有客戶 / 集團內部 (X2) 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874519"/>
            <a:ext cx="4434840" cy="1810512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29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011679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4F32"/>
                </a:solidFill>
              </a:defRPr>
            </a:pPr>
            <a:r>
              <a:t>【戰略明星】外部集團整改大案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友達系整改大修、外來大案技改（毛利高、增量大，高亮目標象限，需加速內化能力）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74519"/>
            <a:ext cx="4434840" cy="1810512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2011679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77B57"/>
                </a:solidFill>
              </a:defRPr>
            </a:pPr>
            <a:r>
              <a:t>【問題專案】既有案場大型整改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國泰 20MW、永鑫 27MW、穩懋機電站（既有大客戶需求明確，但過去因能力不足轉出南區）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822191"/>
            <a:ext cx="4434840" cy="1810512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3959352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77B57"/>
                </a:solidFill>
              </a:defRPr>
            </a:pPr>
            <a:r>
              <a:t>【明日之星】外來標竿標準運維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奇美三案（屋頂+地面）、華科 5 案場、達耀分拆委外（勝率中等、建立服務口碑）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3822191"/>
            <a:ext cx="4434840" cy="1810512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959352"/>
            <a:ext cx="406907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77B57"/>
                </a:solidFill>
              </a:defRPr>
            </a:pPr>
            <a:r>
              <a:t>【穩健金牛】既有基本盤運維合約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全台 86+ 既有保發保批案場（罰鍰歸零、現金流穩定，貢獻 8,400 萬營收基石）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A100FF"/>
                </a:solidFill>
              </a:defRPr>
            </a:pPr>
            <a:r>
              <a:t>管理決策與行動  ｜  版型 2：並列論法  ｜  Accenture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11827"/>
                </a:solidFill>
              </a:defRPr>
            </a:pPr>
            <a:r>
              <a:t>四大首要處置警示（⚠️）限期收斂，掃除 2027 戰略基石之重大管理阻礙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針對累積行動追蹤表 19 項中之高風險項目，明確權責窗口與交付標準，禁止再度落空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資料來源：累積行動追蹤表（現況更新至 2026-10-13） ｜ 埃森哲 Bento 卡片管理矩陣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476423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2476423" cy="5029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⚠️ 整改能力方案檢討 (David)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2110663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現況風險：原訂 9/18 報告已逾期，連續兩次月會未見進度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戰略牽動：2027 修繕目標 3,600 萬以此為核心前提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交付要求：排入 11 月月會正式向厲總報告具體內化路徑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驗收標準：訂定本 BU 承接之金額與工法門檻，杜絕大案外流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263" y="1874519"/>
            <a:ext cx="2476423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2263" y="1874519"/>
            <a:ext cx="2476423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⚠️ 妥善率趨勢與排除 (Evan)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3" y="2514600"/>
            <a:ext cx="2110663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現況風險：10/13 保發報告仍按場數統計，未出具個案曲線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治理隱憂：例外排除規則缺乏複核，口頭與投影片場數不一致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交付要求：下次月會前產出單一案場趨勢圖與容量加權報表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驗收標準：建立不可抗力排除第三方複核機制，確保數據合規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74519"/>
            <a:ext cx="2476423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874519"/>
            <a:ext cx="2476423" cy="5029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⚠️ 派工系統定調 ERP (Roy)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514600"/>
            <a:ext cx="2110663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現況風險：PL 無回饋導致專案停擺，卡住客滿度與 RCM 落地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定位拍板：升格為維運專屬 ERP，由維運自主主導、不交 IT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交付要求：重新盤點業務需求，訂定分階段交付里程碑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驗收標準：完成工單自動分派與巡檢通知模組，消除現場斷點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3751" y="1874519"/>
            <a:ext cx="2476423" cy="4297680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83751" y="1874519"/>
            <a:ext cx="2476423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⚠️ 四級告警與日報 (分析團隊)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31" y="2514600"/>
            <a:ext cx="2110663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1. 現況風險：每日 500+ 告警淹沒工程師，尚未指定落實負責人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2. 機制拍板：告警嚴格分四級，僅主動推播一、二級緊急事件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3. 交付要求：分析模組團隊每日早晚各出具一份異常清單</a:t>
            </a:r>
          </a:p>
          <a:p>
            <a:pPr>
              <a:spcAft>
                <a:spcPts val="600"/>
              </a:spcAft>
              <a:defRPr sz="1250">
                <a:solidFill>
                  <a:srgbClr val="0F172A"/>
                </a:solidFill>
              </a:defRPr>
            </a:pPr>
            <a:r>
              <a:t>4. 驗收標準：指派專屬窗口，每筆異常皆有具體工程師負責追蹤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執行推進時程  ｜  版型 4：連鎖論法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執行時程藍圖：Q4 收斂外來案與數據治理，2027 迎向 1.2 億營運目標與獨立估值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分四階段循序推進合約簽訂、系統上線、預算審定與 ROI 驗證，確保組織戰力無縫對接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資料來源：維運月會 10/13 綜合時程規劃 ｜ 麥肯錫長箭頭階段性執行路徑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874519"/>
            <a:ext cx="10728655" cy="38404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② 關鍵行動項目推進時程、重要里程碑節點與交付成果  ───►</a:t>
            </a:r>
          </a:p>
        </p:txBody>
      </p:sp>
      <p:sp>
        <p:nvSpPr>
          <p:cNvPr id="8" name="Chevron 7"/>
          <p:cNvSpPr/>
          <p:nvPr/>
        </p:nvSpPr>
        <p:spPr>
          <a:xfrm>
            <a:off x="731520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2026-10 (當月收斂)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奇美三案競標定標與合約攻防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穩懋機電站 PO 正式取得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告警四級分類與早晚日報上線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客滿低分客戶 (群創/喜鋪) 專人深訪</a:t>
            </a:r>
          </a:p>
        </p:txBody>
      </p:sp>
      <p:sp>
        <p:nvSpPr>
          <p:cNvPr id="11" name="Chevron 10"/>
          <p:cNvSpPr/>
          <p:nvPr/>
        </p:nvSpPr>
        <p:spPr>
          <a:xfrm>
            <a:off x="3470833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2026-11 (能力與系統)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0833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3713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維運整改方案檢討向厲總正式報告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派工 ERP 系統第一期里程碑驗收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保發報告容量加權雙軌制正式導入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巡檢事前預約通知 SOP 全面上線</a:t>
            </a:r>
          </a:p>
        </p:txBody>
      </p:sp>
      <p:sp>
        <p:nvSpPr>
          <p:cNvPr id="14" name="Chevron 13"/>
          <p:cNvSpPr/>
          <p:nvPr/>
        </p:nvSpPr>
        <p:spPr>
          <a:xfrm>
            <a:off x="6210147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2026-12 (預算與外包)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2027 年度預算核定 (1.2 億目標)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友達系整批外包案報價與策略談判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大成長城二次現勘重新報價定案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客滿問卷題型優化與制度更新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9461" y="2468880"/>
            <a:ext cx="2510713" cy="77724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2027-H1 (躍升與估值)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9461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2341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清掃機器人滿 6 個月 ROI 結算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全面推廣發電增益分成或大案合約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RCM 風險分級合約與 FMEA 試行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</a:defRPr>
            </a:pPr>
            <a:r>
              <a:t>▪ 衝刺維運 BU 獨立 Spin-off (EPS 0.5-0.8)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